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17"/>
  </p:handoutMasterIdLst>
  <p:sldIdLst>
    <p:sldId id="258" r:id="rId4"/>
    <p:sldId id="377" r:id="rId6"/>
    <p:sldId id="394" r:id="rId7"/>
    <p:sldId id="391" r:id="rId8"/>
    <p:sldId id="392" r:id="rId9"/>
    <p:sldId id="393" r:id="rId10"/>
    <p:sldId id="395" r:id="rId11"/>
    <p:sldId id="396" r:id="rId12"/>
    <p:sldId id="398" r:id="rId13"/>
    <p:sldId id="397" r:id="rId14"/>
    <p:sldId id="374" r:id="rId15"/>
    <p:sldId id="33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70" autoAdjust="0"/>
    <p:restoredTop sz="95033" autoAdjust="0"/>
  </p:normalViewPr>
  <p:slideViewPr>
    <p:cSldViewPr snapToGrid="0" snapToObjects="1" showGuides="1">
      <p:cViewPr varScale="1">
        <p:scale>
          <a:sx n="82" d="100"/>
          <a:sy n="82" d="100"/>
        </p:scale>
        <p:origin x="106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microsoft.com/office/2018/10/relationships/authors" Target="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image" Target="../media/image1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6975" y="389047"/>
            <a:ext cx="10392383" cy="776839"/>
          </a:xfrm>
        </p:spPr>
        <p:txBody>
          <a:bodyPr>
            <a:noAutofit/>
          </a:bodyPr>
          <a:lstStyle/>
          <a:p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1</a:t>
            </a:r>
            <a:r>
              <a:rPr lang="en-US" sz="2400" b="1" baseline="30000" dirty="0">
                <a:cs typeface="Arial" panose="020B0604020202020204" pitchFamily="34" charset="0"/>
              </a:rPr>
              <a:t>st</a:t>
            </a:r>
            <a:r>
              <a:rPr lang="en-US" sz="2400" b="1" dirty="0">
                <a:cs typeface="Arial" panose="020B0604020202020204" pitchFamily="34" charset="0"/>
              </a:rPr>
              <a:t>  </a:t>
            </a:r>
            <a:r>
              <a:rPr lang="en-US" sz="2400" b="1" dirty="0" smtClean="0">
                <a:cs typeface="Arial" panose="020B0604020202020204" pitchFamily="34" charset="0"/>
              </a:rPr>
              <a:t>REVIEW</a:t>
            </a:r>
            <a:br>
              <a:rPr lang="en-US" sz="2400" b="1" dirty="0" smtClean="0">
                <a:cs typeface="Arial" panose="020B0604020202020204" pitchFamily="34" charset="0"/>
              </a:rPr>
            </a:br>
            <a:r>
              <a:rPr lang="en-US" sz="2800" b="1" dirty="0"/>
              <a:t>Construction Mobile App for </a:t>
            </a:r>
            <a:r>
              <a:rPr lang="en-US" sz="2800" b="1" dirty="0" smtClean="0"/>
              <a:t>Contractor Self-Service</a:t>
            </a:r>
            <a:br>
              <a:rPr lang="en-US" sz="2400" b="1" dirty="0">
                <a:latin typeface="+mn-lt"/>
                <a:cs typeface="Arial" panose="020B0604020202020204" pitchFamily="34" charset="0"/>
              </a:rPr>
            </a:br>
            <a:br>
              <a:rPr lang="en-US" sz="24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</a:b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/>
          <p:cNvSpPr txBox="1"/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  <a:endParaRPr lang="en-US" sz="1800" b="1" dirty="0">
              <a:solidFill>
                <a:srgbClr val="C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/>
          <p:cNvSpPr txBox="1"/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7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err="1" smtClean="0">
                <a:solidFill>
                  <a:srgbClr val="00B050"/>
                </a:solidFill>
              </a:rPr>
              <a:t>Dr.Spandana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00B050"/>
                </a:solidFill>
              </a:rPr>
              <a:t>Assitant</a:t>
            </a:r>
            <a:r>
              <a:rPr lang="en-US" sz="2400" dirty="0">
                <a:solidFill>
                  <a:srgbClr val="00B050"/>
                </a:solidFill>
              </a:rPr>
              <a:t> Professor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0th REVIEW          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/>
                <a:gridCol w="4064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P.Venkata Sri Sai Madhurima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2520030182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T.Hasini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2520030102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Vishal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2520030521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GROUP </a:t>
            </a:r>
            <a:r>
              <a:rPr lang="en-US" sz="3200" b="1" dirty="0" smtClean="0">
                <a:solidFill>
                  <a:srgbClr val="0070C0"/>
                </a:solidFill>
              </a:rPr>
              <a:t>NUMBER:9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graphicFrame>
        <p:nvGraphicFramePr>
          <p:cNvPr id="7" name="Table 10"/>
          <p:cNvGraphicFramePr>
            <a:graphicFrameLocks noGrp="1"/>
          </p:cNvGraphicFramePr>
          <p:nvPr>
            <p:ph idx="1"/>
          </p:nvPr>
        </p:nvGraphicFramePr>
        <p:xfrm>
          <a:off x="2340427" y="1416193"/>
          <a:ext cx="7010400" cy="3649087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3505200"/>
                <a:gridCol w="3505200"/>
              </a:tblGrid>
              <a:tr h="4184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9841">
                <a:tc>
                  <a:txBody>
                    <a:bodyPr/>
                    <a:lstStyle/>
                    <a:p>
                      <a:r>
                        <a:rPr lang="en-US" sz="1800" dirty="0">
                          <a:sym typeface="+mn-ea"/>
                        </a:rPr>
                        <a:t>P.Venkata Sri Sai Madhurima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2520030182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9841">
                <a:tc>
                  <a:txBody>
                    <a:bodyPr/>
                    <a:lstStyle/>
                    <a:p>
                      <a:r>
                        <a:rPr lang="en-US" dirty="0"/>
                        <a:t>T.Hasini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2520030102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0" dirty="0"/>
                        <a:t>Vishal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i="0" u="none" dirty="0">
                          <a:solidFill>
                            <a:schemeClr val="tx1">
                              <a:alpha val="31000"/>
                            </a:schemeClr>
                          </a:solidFill>
                        </a:rPr>
                        <a:t>2520030521</a:t>
                      </a:r>
                      <a:endParaRPr lang="en-US" sz="2000" b="1" i="0" u="none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  <a:p>
                      <a:endParaRPr lang="en-US" sz="2000" b="1" i="0" u="none" kern="1200" dirty="0">
                        <a:solidFill>
                          <a:schemeClr val="tx1">
                            <a:alpha val="31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  <a:p>
                      <a:endParaRPr lang="en-US" b="1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Construction Mobile App for Contractor Self-Service</a:t>
            </a:r>
            <a:br>
              <a:rPr lang="en-US" sz="2400" b="1" dirty="0">
                <a:cs typeface="Arial" panose="020B0604020202020204" pitchFamily="34" charset="0"/>
              </a:rPr>
            </a:br>
            <a:br>
              <a:rPr lang="en-US" sz="2400" b="1" dirty="0">
                <a:solidFill>
                  <a:srgbClr val="FF0000"/>
                </a:solidFill>
                <a:cs typeface="Arial" panose="020B0604020202020204" pitchFamily="34" charset="0"/>
              </a:rPr>
            </a:br>
            <a:endParaRPr lang="en-US" altLang="en-US" dirty="0" smtClean="0"/>
          </a:p>
          <a:p>
            <a:r>
              <a:rPr lang="en-US" altLang="en-US" dirty="0" smtClean="0"/>
              <a:t>Delayed </a:t>
            </a:r>
            <a:r>
              <a:rPr lang="en-US" altLang="en-US" dirty="0"/>
              <a:t>communication between contractors and project managers.</a:t>
            </a:r>
            <a:endParaRPr lang="en-US" altLang="en-US" dirty="0"/>
          </a:p>
          <a:p>
            <a:r>
              <a:rPr lang="en-US" altLang="en-US" dirty="0"/>
              <a:t>Difficulty in tracking project progress and resource </a:t>
            </a:r>
            <a:r>
              <a:rPr lang="en-US" altLang="en-US" dirty="0" smtClean="0"/>
              <a:t>utilization</a:t>
            </a:r>
            <a:endParaRPr lang="en-US" altLang="en-US" dirty="0" smtClean="0"/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r>
              <a:rPr lang="en-US" altLang="en-US" dirty="0"/>
              <a:t>The Construction Mobile App helps contractors manage projects easily from their phones.</a:t>
            </a:r>
            <a:endParaRPr lang="en-US" altLang="en-US" dirty="0"/>
          </a:p>
          <a:p>
            <a:r>
              <a:rPr lang="en-US" altLang="en-US" dirty="0"/>
              <a:t>It allows them to track workers, materials, tasks, expenses, and project progress in real time.</a:t>
            </a:r>
            <a:endParaRPr lang="en-US" altLang="en-US" dirty="0"/>
          </a:p>
          <a:p>
            <a:r>
              <a:rPr lang="en-US" altLang="en-US" dirty="0"/>
              <a:t>Contractors can share documents, submit reports, request approvals, and receive important alerts.</a:t>
            </a:r>
            <a:endParaRPr lang="en-US" altLang="en-US" dirty="0"/>
          </a:p>
          <a:p>
            <a:r>
              <a:rPr lang="en-US" altLang="en-US" dirty="0"/>
              <a:t>The app improves communication between contractors, engineers, suppliers, and managers.</a:t>
            </a:r>
            <a:endParaRPr lang="en-US" altLang="en-US" dirty="0"/>
          </a:p>
          <a:p>
            <a:r>
              <a:rPr lang="en-US" altLang="en-US" dirty="0"/>
              <a:t>By reducing paperwork and errors, it saves time and improves resource management.</a:t>
            </a:r>
            <a:endParaRPr lang="en-US" altLang="en-US" dirty="0"/>
          </a:p>
          <a:p>
            <a:r>
              <a:rPr lang="en-US" altLang="en-US" dirty="0"/>
              <a:t>Overall, it makes construction work more organized, transparent, and efficient.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INTRDOUCTION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construction industry often faces challenges in managing contractors, resources, and project activities efficiently.</a:t>
            </a:r>
            <a:endParaRPr lang="en-US" altLang="en-US" dirty="0"/>
          </a:p>
          <a:p>
            <a:r>
              <a:rPr lang="en-US" altLang="en-US" dirty="0"/>
              <a:t>Traditional methods rely on paperwork, phone calls, and manual reporting, leading to delays and communication gaps.</a:t>
            </a:r>
            <a:endParaRPr lang="en-US" altLang="en-US" dirty="0"/>
          </a:p>
          <a:p>
            <a:r>
              <a:rPr lang="en-US" altLang="en-US" dirty="0"/>
              <a:t>A mobile-based self-service application enables contractors to manage tasks, submit reports, track progress, and communicate in real time.</a:t>
            </a:r>
            <a:endParaRPr lang="en-US" altLang="en-US" dirty="0"/>
          </a:p>
          <a:p>
            <a:r>
              <a:rPr lang="en-US" altLang="en-US" dirty="0"/>
              <a:t>The proposed system improves productivity, transparency, and project coordination.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Contractor management is mostly handled through manual records and paperwork.</a:t>
            </a:r>
            <a:endParaRPr lang="en-US" altLang="en-US" dirty="0"/>
          </a:p>
          <a:p>
            <a:r>
              <a:rPr lang="en-US" altLang="en-US" dirty="0"/>
              <a:t>Project updates are communicated through phone calls, emails, or physical meetings.</a:t>
            </a:r>
            <a:endParaRPr lang="en-US" altLang="en-US" dirty="0"/>
          </a:p>
          <a:p>
            <a:r>
              <a:rPr lang="en-US" altLang="en-US" dirty="0"/>
              <a:t>Tracking labor attendance, material requests, and work progress is time-consuming.</a:t>
            </a:r>
            <a:endParaRPr lang="en-US" altLang="en-US" dirty="0"/>
          </a:p>
          <a:p>
            <a:r>
              <a:rPr lang="en-US" altLang="en-US" dirty="0"/>
              <a:t>Lack of centralized data leads to miscommunication and project delays.</a:t>
            </a:r>
            <a:endParaRPr lang="en-US" altLang="en-US" dirty="0"/>
          </a:p>
          <a:p>
            <a:r>
              <a:rPr lang="en-US" altLang="en-US" dirty="0"/>
              <a:t>Monitoring project status and generating reports require significant manual effort.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Develop a mobile app that provides contractor self-service functionality.</a:t>
            </a:r>
            <a:endParaRPr lang="en-US" altLang="en-US" dirty="0"/>
          </a:p>
          <a:p>
            <a:r>
              <a:rPr lang="en-US" altLang="en-US" dirty="0"/>
              <a:t>Enable real-time project progress tracking and reporting.</a:t>
            </a:r>
            <a:endParaRPr lang="en-US" altLang="en-US" dirty="0"/>
          </a:p>
          <a:p>
            <a:r>
              <a:rPr lang="en-US" altLang="en-US" dirty="0"/>
              <a:t>Allow contractors to submit material requests and approvals digitally.</a:t>
            </a:r>
            <a:endParaRPr lang="en-US" altLang="en-US" dirty="0"/>
          </a:p>
          <a:p>
            <a:r>
              <a:rPr lang="en-US" altLang="en-US" dirty="0"/>
              <a:t>Provide attendance and workforce management features.</a:t>
            </a:r>
            <a:endParaRPr lang="en-US" altLang="en-US" dirty="0"/>
          </a:p>
          <a:p>
            <a:r>
              <a:rPr lang="en-US" altLang="en-US" dirty="0"/>
              <a:t>Generate automated reports and notifications.</a:t>
            </a:r>
            <a:endParaRPr lang="en-US" altLang="en-US" dirty="0"/>
          </a:p>
          <a:p>
            <a:r>
              <a:rPr lang="en-US" altLang="en-US" dirty="0"/>
              <a:t>Improve communication between contractors, engineers, and project managers.</a:t>
            </a:r>
            <a:endParaRPr lang="en-US" altLang="en-US" dirty="0"/>
          </a:p>
          <a:p>
            <a:r>
              <a:rPr lang="en-US" altLang="en-US" dirty="0"/>
              <a:t>Reduce paperwork, save time, and increase project efficiency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Objectives 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To digitize and simplify construction project management.</a:t>
            </a:r>
            <a:endParaRPr lang="en-US" altLang="en-US" dirty="0"/>
          </a:p>
          <a:p>
            <a:r>
              <a:rPr lang="en-US" altLang="en-US" dirty="0"/>
              <a:t>To track workforce, materials, tasks, and project progress efficiently.</a:t>
            </a:r>
            <a:endParaRPr lang="en-US" altLang="en-US" dirty="0"/>
          </a:p>
          <a:p>
            <a:r>
              <a:rPr lang="en-US" altLang="en-US" dirty="0"/>
              <a:t>To improve communication between contractors, engineers, and suppliers.</a:t>
            </a:r>
            <a:endParaRPr lang="en-US" altLang="en-US" dirty="0"/>
          </a:p>
          <a:p>
            <a:r>
              <a:rPr lang="en-US" altLang="en-US" dirty="0"/>
              <a:t>To reduce paperwork, errors, delays, and resource wastage.</a:t>
            </a:r>
            <a:endParaRPr lang="en-US" altLang="en-US" dirty="0"/>
          </a:p>
          <a:p>
            <a:r>
              <a:rPr lang="en-US" altLang="en-US" dirty="0"/>
              <a:t>To provide real-time updates for faster and better decision-making.</a:t>
            </a: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Frontend:</a:t>
            </a:r>
            <a:r>
              <a:rPr lang="en-IN" dirty="0"/>
              <a:t> Mobile App — </a:t>
            </a:r>
            <a:r>
              <a:rPr lang="en-IN" b="1" dirty="0"/>
              <a:t>Interface</a:t>
            </a:r>
            <a:r>
              <a:rPr lang="en-IN" dirty="0"/>
              <a:t> </a:t>
            </a:r>
            <a:endParaRPr lang="en-IN" dirty="0"/>
          </a:p>
          <a:p>
            <a:r>
              <a:rPr lang="en-IN" b="1" dirty="0"/>
              <a:t>Backend:</a:t>
            </a:r>
            <a:r>
              <a:rPr lang="en-IN" dirty="0"/>
              <a:t> </a:t>
            </a:r>
            <a:r>
              <a:rPr lang="en-IN" dirty="0" err="1"/>
              <a:t>FastAPI</a:t>
            </a:r>
            <a:r>
              <a:rPr lang="en-IN" dirty="0"/>
              <a:t> — </a:t>
            </a:r>
            <a:r>
              <a:rPr lang="en-IN" b="1" dirty="0"/>
              <a:t>Processing</a:t>
            </a:r>
            <a:r>
              <a:rPr lang="en-IN" dirty="0"/>
              <a:t> </a:t>
            </a:r>
            <a:endParaRPr lang="en-IN" dirty="0"/>
          </a:p>
          <a:p>
            <a:r>
              <a:rPr lang="en-IN" b="1" dirty="0"/>
              <a:t>Database:</a:t>
            </a:r>
            <a:r>
              <a:rPr lang="en-IN" dirty="0"/>
              <a:t> PostgreSQL &amp; MongoDB — </a:t>
            </a:r>
            <a:r>
              <a:rPr lang="en-IN" b="1" dirty="0"/>
              <a:t>Storage</a:t>
            </a:r>
            <a:r>
              <a:rPr lang="en-IN" dirty="0"/>
              <a:t> </a:t>
            </a:r>
            <a:endParaRPr lang="en-IN" dirty="0"/>
          </a:p>
          <a:p>
            <a:r>
              <a:rPr lang="en-IN" b="1" dirty="0"/>
              <a:t>Authentication:</a:t>
            </a:r>
            <a:r>
              <a:rPr lang="en-IN" dirty="0"/>
              <a:t> JWT — </a:t>
            </a:r>
            <a:r>
              <a:rPr lang="en-IN" b="1" dirty="0"/>
              <a:t>Security</a:t>
            </a:r>
            <a:r>
              <a:rPr lang="en-IN" dirty="0"/>
              <a:t> </a:t>
            </a:r>
            <a:endParaRPr lang="en-IN" dirty="0"/>
          </a:p>
          <a:p>
            <a:r>
              <a:rPr lang="en-IN" b="1" dirty="0"/>
              <a:t>Deployment:</a:t>
            </a:r>
            <a:r>
              <a:rPr lang="en-IN" dirty="0"/>
              <a:t> Docker &amp; GitHub Actions — </a:t>
            </a:r>
            <a:r>
              <a:rPr lang="en-IN" b="1" dirty="0"/>
              <a:t>Delivery</a:t>
            </a:r>
            <a:r>
              <a:rPr lang="en-IN" dirty="0"/>
              <a:t> </a:t>
            </a:r>
            <a:endParaRPr lang="en-IN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 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Frontend: Mobile App — Interface</a:t>
            </a:r>
            <a:endParaRPr lang="en-US" altLang="en-US" dirty="0"/>
          </a:p>
          <a:p>
            <a:r>
              <a:rPr lang="en-US" altLang="en-US" dirty="0"/>
              <a:t>Backend: FastAPI — Processing</a:t>
            </a:r>
            <a:endParaRPr lang="en-US" altLang="en-US" dirty="0"/>
          </a:p>
          <a:p>
            <a:r>
              <a:rPr lang="en-US" altLang="en-US" dirty="0"/>
              <a:t>Database: PostgreSQL &amp; MongoDB — Storage</a:t>
            </a:r>
            <a:endParaRPr lang="en-US" altLang="en-US" dirty="0"/>
          </a:p>
          <a:p>
            <a:r>
              <a:rPr lang="en-US" altLang="en-US" dirty="0"/>
              <a:t>Authentication: JWT — Security</a:t>
            </a:r>
            <a:endParaRPr lang="en-US" altLang="en-US" dirty="0"/>
          </a:p>
          <a:p>
            <a:r>
              <a:rPr lang="en-US" altLang="en-US" dirty="0"/>
              <a:t>Deployment: Docker &amp; GitHub Actions — Delivery</a:t>
            </a:r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</a:fld>
            <a:endParaRPr lang="en-US" dirty="0"/>
          </a:p>
        </p:txBody>
      </p:sp>
      <p:sp>
        <p:nvSpPr>
          <p:cNvPr id="3" name="Text Box 2"/>
          <p:cNvSpPr txBox="1"/>
          <p:nvPr/>
        </p:nvSpPr>
        <p:spPr>
          <a:xfrm>
            <a:off x="2170430" y="1925955"/>
            <a:ext cx="9183370" cy="479552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sz="2800" dirty="0"/>
              <a:t>Develop a simple </a:t>
            </a:r>
            <a:r>
              <a:rPr lang="en-US" sz="2800" dirty="0" smtClean="0"/>
              <a:t>app</a:t>
            </a:r>
            <a:r>
              <a:rPr sz="2800" dirty="0" smtClean="0"/>
              <a:t> </a:t>
            </a:r>
            <a:r>
              <a:rPr sz="2800" dirty="0"/>
              <a:t>for contractor self-service.</a:t>
            </a:r>
            <a:endParaRPr sz="2800" dirty="0"/>
          </a:p>
          <a:p>
            <a:r>
              <a:rPr sz="2800" dirty="0"/>
              <a:t> Track projects, workers, materials, and progress in real time. </a:t>
            </a:r>
            <a:endParaRPr sz="2800" dirty="0"/>
          </a:p>
          <a:p>
            <a:r>
              <a:rPr sz="2800" dirty="0"/>
              <a:t> Enable digital requests, approvals, reports, and notifications. </a:t>
            </a:r>
            <a:endParaRPr sz="2800" dirty="0"/>
          </a:p>
          <a:p>
            <a:r>
              <a:rPr sz="2800" dirty="0"/>
              <a:t> Improve team communication and reduce paperwork. </a:t>
            </a:r>
            <a:endParaRPr sz="2800" dirty="0"/>
          </a:p>
          <a:p>
            <a:r>
              <a:rPr sz="2800" dirty="0"/>
              <a:t> Save time and make construction work more efficient.</a:t>
            </a:r>
            <a:endParaRPr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  <a:endParaRPr lang="en-IN" sz="4400" b="1" dirty="0">
              <a:solidFill>
                <a:srgbClr val="0070C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3589</Words>
  <Application>WPS Presentation</Application>
  <PresentationFormat>Widescreen</PresentationFormat>
  <Paragraphs>170</Paragraphs>
  <Slides>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Custom Design</vt:lpstr>
      <vt:lpstr> 1st  REVIEW Construction Mobile App for Contractor Self-Service  </vt:lpstr>
      <vt:lpstr>GROUP NUMBER:9</vt:lpstr>
      <vt:lpstr>PROBLEM</vt:lpstr>
      <vt:lpstr>ABSTRACT</vt:lpstr>
      <vt:lpstr>INTRDOUCTION</vt:lpstr>
      <vt:lpstr>EXISTING SYSTEM</vt:lpstr>
      <vt:lpstr>SOLUTION(Contribution)</vt:lpstr>
      <vt:lpstr>Objectives </vt:lpstr>
      <vt:lpstr>Modules</vt:lpstr>
      <vt:lpstr>SOFTWARE REQUIREMENTS </vt:lpstr>
      <vt:lpstr>CONCLUSION AND FUTURE SCOPE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LENOVO</cp:lastModifiedBy>
  <cp:revision>100</cp:revision>
  <dcterms:created xsi:type="dcterms:W3CDTF">2022-05-20T10:20:00Z</dcterms:created>
  <dcterms:modified xsi:type="dcterms:W3CDTF">2026-08-20T08:18:32Z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D70389DAA9934DB2A5E9BC0C673D1744_12</vt:lpwstr>
  </property>
</Properties>
</file>